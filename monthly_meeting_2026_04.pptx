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2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lang="en-US" dirty="0"/>
              <a:t>AI Team</a:t>
            </a:r>
            <a:r>
              <a:rPr dirty="0"/>
              <a:t>— KPI Dashboard (April 2026</a:t>
            </a:r>
            <a:r>
              <a:rPr lang="en-US" dirty="0"/>
              <a:t> </a:t>
            </a:r>
            <a:r>
              <a:rPr lang="ko-KR" altLang="en-US" dirty="0"/>
              <a:t>윤인수</a:t>
            </a:r>
            <a:r>
              <a:rPr dirty="0"/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129029"/>
              </p:ext>
            </p:extLst>
          </p:nvPr>
        </p:nvGraphicFramePr>
        <p:xfrm>
          <a:off x="365760" y="995792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KPI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Previous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b="1" dirty="0"/>
                        <a:t>Current</a:t>
                      </a:r>
                      <a:r>
                        <a:rPr lang="en-US" sz="1600" b="1" dirty="0"/>
                        <a:t>(</a:t>
                      </a:r>
                      <a:r>
                        <a:rPr lang="en-US" sz="1600" b="1" dirty="0" err="1"/>
                        <a:t>Thermo</a:t>
                      </a:r>
                      <a:r>
                        <a:rPr lang="en-US" sz="1600" b="1" dirty="0"/>
                        <a:t> </a:t>
                      </a:r>
                      <a:r>
                        <a:rPr lang="ko-KR" altLang="en-US" sz="1600" b="1" dirty="0"/>
                        <a:t>기준</a:t>
                      </a:r>
                      <a:r>
                        <a:rPr lang="en-US" altLang="ko-KR" sz="1600" b="1" dirty="0"/>
                        <a:t>)</a:t>
                      </a:r>
                      <a:endParaRPr sz="1600" b="1" dirty="0"/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Change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sz="1600" b="1" dirty="0"/>
                        <a:t>암 </a:t>
                      </a:r>
                      <a:r>
                        <a:rPr lang="en-US" altLang="ko-KR" sz="1600" b="1" dirty="0"/>
                        <a:t>vs </a:t>
                      </a:r>
                      <a:r>
                        <a:rPr lang="ko-KR" altLang="en-US" sz="1600" b="1" dirty="0" err="1"/>
                        <a:t>비암</a:t>
                      </a:r>
                      <a:r>
                        <a:rPr lang="ko-KR" altLang="en-US" sz="1600" b="1" dirty="0"/>
                        <a:t> 구분</a:t>
                      </a:r>
                      <a:endParaRPr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/>
                        <a:t>AUC 0.958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/>
                        <a:t>Sens 86.3% / Spec 92.3%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AUC 0.9936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Sens 96.9~99.2% / Spec 95~100%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dirty="0"/>
                        <a:t>Spectrum Data+ Voigt </a:t>
                      </a:r>
                      <a:r>
                        <a:rPr lang="en-US" sz="1600" dirty="0" err="1"/>
                        <a:t>Peak+Derivative</a:t>
                      </a:r>
                      <a:r>
                        <a:rPr lang="en-US" sz="1600" dirty="0"/>
                        <a:t> of Spectrum </a:t>
                      </a:r>
                      <a:r>
                        <a:rPr lang="ko-KR" altLang="en-US" sz="1600" dirty="0"/>
                        <a:t>활용을 통해 모델 고도화</a:t>
                      </a:r>
                      <a:endParaRPr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sz="1600" b="1" dirty="0"/>
                        <a:t>암 종 구분</a:t>
                      </a:r>
                      <a:endParaRPr sz="1600" b="1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dirty="0"/>
                        <a:t>Macro AUC 0.904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F1 0.92</a:t>
                      </a:r>
                      <a:r>
                        <a:rPr lang="en-US" sz="1600" b="1" dirty="0"/>
                        <a:t>0</a:t>
                      </a:r>
                      <a:r>
                        <a:rPr sz="1600" b="1" dirty="0"/>
                        <a:t>2 ± 0.022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sz="1600" dirty="0"/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QC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dirty="0"/>
                        <a:t>3/4 equip 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1" dirty="0" err="1"/>
                        <a:t>Nanoscope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Ramcheck</a:t>
                      </a:r>
                      <a:r>
                        <a:rPr lang="en-US" sz="1600" b="1" dirty="0"/>
                        <a:t> A1 </a:t>
                      </a:r>
                      <a:r>
                        <a:rPr lang="ko-KR" altLang="en-US" sz="1600" b="1" dirty="0"/>
                        <a:t>데이터 검증 완</a:t>
                      </a:r>
                      <a:r>
                        <a:rPr sz="1600" b="1" dirty="0"/>
                        <a:t> + QC threshold derived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(</a:t>
                      </a:r>
                      <a:r>
                        <a:rPr sz="1600" b="1" dirty="0" err="1"/>
                        <a:t>corr</a:t>
                      </a:r>
                      <a:r>
                        <a:rPr sz="1600" b="1" dirty="0"/>
                        <a:t> 0.925, </a:t>
                      </a:r>
                      <a:r>
                        <a:rPr sz="1600" b="1" dirty="0" err="1"/>
                        <a:t>min_reps</a:t>
                      </a:r>
                      <a:r>
                        <a:rPr sz="1600" b="1" dirty="0"/>
                        <a:t>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sz="1600" dirty="0"/>
                        <a:t>기기간 안정성 및 데이터 활용 가능성 확인</a:t>
                      </a:r>
                      <a:endParaRPr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DATA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dirty="0"/>
                        <a:t>N = 1,342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N = 1,</a:t>
                      </a:r>
                      <a:r>
                        <a:rPr lang="en-US" sz="1600" b="1" dirty="0"/>
                        <a:t>628</a:t>
                      </a:r>
                      <a:endParaRPr sz="1600" b="1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dirty="0"/>
                        <a:t>Bladder cancer cohort</a:t>
                      </a:r>
                      <a:r>
                        <a:rPr lang="en-US" sz="1600" dirty="0"/>
                        <a:t> </a:t>
                      </a:r>
                      <a:r>
                        <a:rPr lang="ko-KR" altLang="en-US" sz="1600" dirty="0"/>
                        <a:t>추가</a:t>
                      </a:r>
                      <a:endParaRPr sz="1600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1" dirty="0"/>
                        <a:t>Regulatory</a:t>
                      </a:r>
                      <a:endParaRPr sz="1600" b="1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dirty="0"/>
                        <a:t>- </a:t>
                      </a:r>
                      <a:endParaRPr sz="1600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sz="1600" b="1" dirty="0" err="1"/>
                        <a:t>식약처</a:t>
                      </a:r>
                      <a:r>
                        <a:rPr lang="ko-KR" altLang="en-US" sz="1600" b="1" dirty="0"/>
                        <a:t> 사용적합성 문서 작성 및 소프트웨어 프로토타입 개발</a:t>
                      </a:r>
                      <a:endParaRPr lang="en-US" sz="1600" b="1" dirty="0"/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1" dirty="0"/>
                        <a:t>(</a:t>
                      </a:r>
                      <a:r>
                        <a:rPr sz="1600" b="1" dirty="0"/>
                        <a:t>Win .exe + </a:t>
                      </a:r>
                      <a:r>
                        <a:rPr sz="1600" b="1" dirty="0" err="1"/>
                        <a:t>FastAPI</a:t>
                      </a:r>
                      <a:endParaRPr sz="1600" b="1" dirty="0"/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+ Audit trail</a:t>
                      </a:r>
                      <a:r>
                        <a:rPr lang="en-US" sz="1600" b="1" dirty="0"/>
                        <a:t>)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altLang="ko-KR" sz="1600" b="1" dirty="0"/>
                        <a:t>Web-app</a:t>
                      </a:r>
                      <a:endParaRPr sz="1600" b="1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dirty="0"/>
                        <a:t>Development Infra </a:t>
                      </a:r>
                      <a:r>
                        <a:rPr lang="ko-KR" altLang="en-US" sz="1600" dirty="0"/>
                        <a:t>생성</a:t>
                      </a:r>
                      <a:endParaRPr sz="1600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600" b="1" dirty="0"/>
                        <a:t>IP</a:t>
                      </a:r>
                      <a:r>
                        <a:rPr lang="en-US" sz="1600" b="1" dirty="0"/>
                        <a:t> R&amp;D</a:t>
                      </a:r>
                      <a:endParaRPr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dirty="0"/>
                        <a:t>-</a:t>
                      </a:r>
                      <a:endParaRPr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1" dirty="0"/>
                        <a:t>4</a:t>
                      </a:r>
                      <a:r>
                        <a:rPr sz="1600" b="1" dirty="0"/>
                        <a:t> patent drafts</a:t>
                      </a:r>
                      <a:r>
                        <a:rPr lang="en-US" sz="1600" b="1" dirty="0"/>
                        <a:t> </a:t>
                      </a:r>
                      <a:r>
                        <a:rPr lang="ko-KR" altLang="en-US" sz="1600" b="1" dirty="0"/>
                        <a:t>작성</a:t>
                      </a:r>
                      <a:endParaRPr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1" dirty="0"/>
                        <a:t>Academy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lang="ko-KR" altLang="en-US" sz="1600" b="1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dirty="0"/>
                        <a:t>-</a:t>
                      </a:r>
                      <a:endParaRPr sz="1600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600" b="1" dirty="0"/>
                        <a:t>AACR </a:t>
                      </a:r>
                      <a:r>
                        <a:rPr lang="ko-KR" altLang="en-US" sz="1600" b="1" dirty="0"/>
                        <a:t>포스터 제출</a:t>
                      </a:r>
                      <a:endParaRPr lang="en-US" altLang="ko-KR" sz="1600" b="1" dirty="0"/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 err="1"/>
                        <a:t>대한암학회</a:t>
                      </a:r>
                      <a:r>
                        <a:rPr lang="ko-KR" altLang="en-US" sz="1600" b="1" dirty="0"/>
                        <a:t> 초록 제출</a:t>
                      </a:r>
                      <a:r>
                        <a:rPr lang="en-US" altLang="ko-KR" sz="1600" b="1" dirty="0"/>
                        <a:t>, 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sz="1600" b="1" dirty="0"/>
                        <a:t>임상논문 데이터 분석 완</a:t>
                      </a:r>
                      <a:r>
                        <a:rPr lang="en-US" altLang="ko-KR" sz="1600" b="1" dirty="0"/>
                        <a:t>, 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sz="1600" b="1" dirty="0" err="1"/>
                        <a:t>범부처</a:t>
                      </a:r>
                      <a:r>
                        <a:rPr lang="ko-KR" altLang="en-US" sz="1600" b="1" dirty="0"/>
                        <a:t> 과제 제출</a:t>
                      </a:r>
                      <a:endParaRPr lang="en-US" altLang="ko-KR" sz="1600" b="1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sz="1600"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dirty="0"/>
              <a:t>Cohort &amp; 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E8C"/>
                </a:solidFill>
              </a:defRPr>
            </a:pPr>
            <a:r>
              <a:t>Cohort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134282"/>
              </p:ext>
            </p:extLst>
          </p:nvPr>
        </p:nvGraphicFramePr>
        <p:xfrm>
          <a:off x="365760" y="13716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Cohort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Hospital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 / CRC / LUN /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dirty="0"/>
                        <a:t>충북대학교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양산부산대병원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등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Retrospective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Active (N=1,</a:t>
                      </a:r>
                      <a:r>
                        <a:rPr lang="en-US" dirty="0"/>
                        <a:t>569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YPAN / YNOR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Severance Hospital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Prospective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BPRO / BNOR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Boramae Hospital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Prospective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On-going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E8C"/>
                </a:solidFill>
              </a:defRPr>
            </a:pPr>
            <a:r>
              <a:t>Equipment QC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782642"/>
              </p:ext>
            </p:extLst>
          </p:nvPr>
        </p:nvGraphicFramePr>
        <p:xfrm>
          <a:off x="8046720" y="1371600"/>
          <a:ext cx="3657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Equipment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Status</a:t>
                      </a:r>
                    </a:p>
                  </a:txBody>
                  <a:tcPr anchor="ctr">
                    <a:solidFill>
                      <a:srgbClr val="00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Thermo</a:t>
                      </a:r>
                      <a:r>
                        <a:rPr dirty="0"/>
                        <a:t> DXR3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Nanoscope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Thermo</a:t>
                      </a:r>
                      <a:r>
                        <a:rPr dirty="0"/>
                        <a:t> DXR3 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Nanoscope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PASS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dirty="0"/>
                        <a:t>타 기기 및 </a:t>
                      </a:r>
                      <a:r>
                        <a:rPr lang="en-US" altLang="ko-KR" dirty="0"/>
                        <a:t>Reference Peak </a:t>
                      </a:r>
                      <a:r>
                        <a:rPr lang="ko-KR" altLang="en-US" dirty="0"/>
                        <a:t>통해 보정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Under review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29B845B2-9896-2FC9-F59B-B2CF0C8AF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8" y="3620384"/>
            <a:ext cx="6246117" cy="27746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9AE013-35B0-EFFB-5C63-B0A4A6F6F910}"/>
              </a:ext>
            </a:extLst>
          </p:cNvPr>
          <p:cNvSpPr txBox="1"/>
          <p:nvPr/>
        </p:nvSpPr>
        <p:spPr>
          <a:xfrm>
            <a:off x="328954" y="3065253"/>
            <a:ext cx="595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 </a:t>
            </a:r>
            <a:r>
              <a:rPr lang="ko-KR" altLang="en-US" dirty="0"/>
              <a:t>종 </a:t>
            </a:r>
            <a:r>
              <a:rPr lang="en-US" altLang="ko-KR" dirty="0"/>
              <a:t>Raman </a:t>
            </a:r>
            <a:r>
              <a:rPr lang="ko-KR" altLang="en-US" dirty="0"/>
              <a:t>기기 중 </a:t>
            </a:r>
            <a:r>
              <a:rPr lang="en-US" altLang="ko-KR" dirty="0"/>
              <a:t>2 </a:t>
            </a:r>
            <a:r>
              <a:rPr lang="ko-KR" altLang="en-US" dirty="0"/>
              <a:t>기기에서의 일관된 분석 성능 검증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E79DE77-A1BD-B814-5B77-2CB64695F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45402"/>
            <a:ext cx="5303520" cy="17221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777267-3DEE-C958-B018-E33727ED5AC2}"/>
              </a:ext>
            </a:extLst>
          </p:cNvPr>
          <p:cNvSpPr txBox="1"/>
          <p:nvPr/>
        </p:nvSpPr>
        <p:spPr>
          <a:xfrm>
            <a:off x="6619075" y="5441147"/>
            <a:ext cx="4035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기기 간 </a:t>
            </a:r>
            <a:r>
              <a:rPr lang="en-US" altLang="ko-KR" dirty="0"/>
              <a:t>Peak </a:t>
            </a:r>
            <a:r>
              <a:rPr lang="ko-KR" altLang="en-US" dirty="0"/>
              <a:t>위치의 </a:t>
            </a:r>
            <a:r>
              <a:rPr lang="en-US" altLang="ko-KR" dirty="0"/>
              <a:t>shift </a:t>
            </a:r>
            <a:r>
              <a:rPr lang="ko-KR" altLang="en-US" dirty="0"/>
              <a:t>발견 </a:t>
            </a:r>
            <a:r>
              <a:rPr lang="en-US" altLang="ko-KR" dirty="0"/>
              <a:t>-&gt; </a:t>
            </a:r>
            <a:r>
              <a:rPr lang="en-US" altLang="ko-KR" b="1" dirty="0"/>
              <a:t>Reference Peak</a:t>
            </a:r>
            <a:r>
              <a:rPr lang="ko-KR" altLang="en-US" b="1" dirty="0"/>
              <a:t>를 통해 정규화 진행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Improvement Roadmap — Progress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228" y="10985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E8C"/>
                </a:solidFill>
              </a:defRPr>
            </a:pPr>
            <a:r>
              <a:rPr dirty="0"/>
              <a:t>Completed (Original 3-Step Roadmap)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287" y="1481989"/>
            <a:ext cx="54864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08040"/>
                </a:solidFill>
              </a:defRPr>
            </a:pPr>
            <a:r>
              <a:rPr sz="1400" dirty="0"/>
              <a:t>✅ QC / Batch Correction → Phase 7-10 complete</a:t>
            </a:r>
          </a:p>
          <a:p>
            <a:pPr>
              <a:spcAft>
                <a:spcPts val="300"/>
              </a:spcAft>
              <a:defRPr sz="1100">
                <a:solidFill>
                  <a:srgbClr val="FF9900"/>
                </a:solidFill>
              </a:defRPr>
            </a:pPr>
            <a:r>
              <a:rPr sz="1400" dirty="0"/>
              <a:t>⚠️ </a:t>
            </a:r>
            <a:r>
              <a:rPr lang="en-US" sz="1400" dirty="0"/>
              <a:t>LOT</a:t>
            </a:r>
            <a:r>
              <a:rPr sz="1400" dirty="0"/>
              <a:t> confound identified → </a:t>
            </a:r>
            <a:r>
              <a:rPr sz="1400" dirty="0" err="1"/>
              <a:t>ComBat</a:t>
            </a:r>
            <a:r>
              <a:rPr sz="1400" dirty="0"/>
              <a:t>/DANN needed</a:t>
            </a:r>
            <a:endParaRPr lang="en-US" sz="1400" dirty="0"/>
          </a:p>
          <a:p>
            <a:pPr>
              <a:spcAft>
                <a:spcPts val="300"/>
              </a:spcAft>
              <a:defRPr sz="1100">
                <a:solidFill>
                  <a:srgbClr val="FF9900"/>
                </a:solidFill>
              </a:defRPr>
            </a:pPr>
            <a:r>
              <a:rPr lang="en-US" altLang="ko-KR" sz="1400" dirty="0"/>
              <a:t>⚠️ Machine offset identified → Reference</a:t>
            </a:r>
          </a:p>
          <a:p>
            <a:pPr>
              <a:spcAft>
                <a:spcPts val="300"/>
              </a:spcAft>
              <a:defRPr sz="1100">
                <a:solidFill>
                  <a:srgbClr val="FF9900"/>
                </a:solidFill>
              </a:defRPr>
            </a:pPr>
            <a:r>
              <a:rPr sz="1400" dirty="0"/>
              <a:t>✅ </a:t>
            </a:r>
            <a:r>
              <a:rPr sz="1400" dirty="0">
                <a:solidFill>
                  <a:srgbClr val="00B050"/>
                </a:solidFill>
              </a:rPr>
              <a:t>Peak filtering / redesign → Multiview experiment done</a:t>
            </a:r>
          </a:p>
          <a:p>
            <a:pPr>
              <a:spcAft>
                <a:spcPts val="300"/>
              </a:spcAft>
              <a:defRPr sz="1100">
                <a:solidFill>
                  <a:srgbClr val="008040"/>
                </a:solidFill>
              </a:defRPr>
            </a:pPr>
            <a:r>
              <a:rPr sz="1400" dirty="0"/>
              <a:t>✅ SHAP-based feature importance analysis complete</a:t>
            </a:r>
          </a:p>
          <a:p>
            <a:pPr>
              <a:spcAft>
                <a:spcPts val="300"/>
              </a:spcAft>
              <a:defRPr sz="1100">
                <a:solidFill>
                  <a:srgbClr val="008040"/>
                </a:solidFill>
              </a:defRPr>
            </a:pPr>
            <a:r>
              <a:rPr sz="1400" dirty="0"/>
              <a:t>✅ Clinical multimodal fusion → Early fusion experiments archived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253" y="994765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E8C"/>
                </a:solidFill>
              </a:defRPr>
            </a:pPr>
            <a:r>
              <a:rPr dirty="0"/>
              <a:t>New Roadmap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34143"/>
              </p:ext>
            </p:extLst>
          </p:nvPr>
        </p:nvGraphicFramePr>
        <p:xfrm>
          <a:off x="5405886" y="1371600"/>
          <a:ext cx="6688347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sz="1400" dirty="0"/>
                        <a:t>목표</a:t>
                      </a:r>
                      <a:endParaRPr sz="1400" dirty="0"/>
                    </a:p>
                  </a:txBody>
                  <a:tcPr>
                    <a:solidFill>
                      <a:srgbClr val="004E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Description</a:t>
                      </a:r>
                    </a:p>
                  </a:txBody>
                  <a:tcPr>
                    <a:solidFill>
                      <a:srgbClr val="00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Domain Adaptation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 err="1"/>
                        <a:t>ComBat</a:t>
                      </a:r>
                      <a:r>
                        <a:rPr sz="1400" dirty="0"/>
                        <a:t> (batch) or DANN (adversarial)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for </a:t>
                      </a:r>
                      <a:r>
                        <a:rPr lang="en-US" sz="1400" dirty="0"/>
                        <a:t>LOT</a:t>
                      </a:r>
                      <a:r>
                        <a:rPr sz="1400" dirty="0"/>
                        <a:t> confound correction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Multi-site Validation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400" b="1" dirty="0"/>
                        <a:t>Cross-instrument calibration (PDS)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400" b="1" dirty="0" err="1"/>
                        <a:t>Thermo</a:t>
                      </a:r>
                      <a:r>
                        <a:rPr sz="1400" b="1" dirty="0"/>
                        <a:t> ↔ Medical verification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Prospective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ko-KR" altLang="en-US" sz="1400" dirty="0"/>
                        <a:t>보라매 병원 </a:t>
                      </a:r>
                      <a:endParaRPr lang="en-US" altLang="ko-KR" sz="14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400" dirty="0"/>
                        <a:t>- </a:t>
                      </a:r>
                      <a:r>
                        <a:rPr sz="1400" dirty="0"/>
                        <a:t>BPRO/BNOR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2053" y="4644684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rPr lang="en-US" sz="1600" dirty="0"/>
              <a:t>LOT</a:t>
            </a:r>
            <a:r>
              <a:rPr sz="1600" dirty="0"/>
              <a:t> confound analysis complete. </a:t>
            </a:r>
            <a:r>
              <a:rPr sz="1600" dirty="0" err="1"/>
              <a:t>ComBat</a:t>
            </a:r>
            <a:r>
              <a:rPr sz="1600" dirty="0"/>
              <a:t>/DANN design</a:t>
            </a:r>
            <a:r>
              <a:rPr lang="ko-KR" altLang="en-US" sz="1600" dirty="0"/>
              <a:t>의 모델 </a:t>
            </a:r>
            <a:r>
              <a:rPr lang="en-US" altLang="ko-KR" sz="1600" dirty="0"/>
              <a:t>Design</a:t>
            </a:r>
            <a:endParaRPr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22053" y="5126809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rPr sz="1600" dirty="0"/>
              <a:t>Clinical paper prep.</a:t>
            </a:r>
            <a:r>
              <a:rPr lang="en-US" sz="1600" dirty="0"/>
              <a:t> Metabolite Profiling Library </a:t>
            </a:r>
            <a:r>
              <a:rPr lang="ko-KR" altLang="en-US" sz="1600" dirty="0"/>
              <a:t>구축 </a:t>
            </a:r>
            <a:r>
              <a:rPr lang="en-US" altLang="ko-KR" sz="1600" dirty="0"/>
              <a:t>w. </a:t>
            </a:r>
            <a:r>
              <a:rPr lang="ko-KR" altLang="en-US" sz="1600" dirty="0" err="1"/>
              <a:t>고은혜</a:t>
            </a:r>
            <a:r>
              <a:rPr lang="ko-KR" altLang="en-US" sz="1600" dirty="0"/>
              <a:t> 프로</a:t>
            </a:r>
            <a:r>
              <a:rPr lang="en-US" altLang="ko-KR" sz="1600" dirty="0"/>
              <a:t>, </a:t>
            </a:r>
            <a:r>
              <a:rPr lang="ko-KR" altLang="en-US" sz="1600" dirty="0"/>
              <a:t>최형석 프로</a:t>
            </a:r>
            <a:r>
              <a:rPr lang="en-US" altLang="ko-KR" sz="1600" dirty="0"/>
              <a:t>.</a:t>
            </a:r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322053" y="5571713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rPr sz="1600" dirty="0"/>
              <a:t>Multi-site validation </a:t>
            </a:r>
            <a:r>
              <a:rPr lang="en-US" sz="1600" dirty="0"/>
              <a:t>with Reference Peak (w. </a:t>
            </a:r>
            <a:r>
              <a:rPr lang="ko-KR" altLang="en-US" sz="1600" dirty="0" err="1"/>
              <a:t>고은혜</a:t>
            </a:r>
            <a:r>
              <a:rPr lang="ko-KR" altLang="en-US" sz="1600" dirty="0"/>
              <a:t> 프로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엄찬호</a:t>
            </a:r>
            <a:r>
              <a:rPr lang="ko-KR" altLang="en-US" sz="1600" dirty="0"/>
              <a:t> 프로</a:t>
            </a:r>
            <a:r>
              <a:rPr lang="en-US" altLang="ko-KR" sz="1600" dirty="0"/>
              <a:t>)</a:t>
            </a:r>
            <a:endParaRPr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322053" y="6392392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rPr lang="ko-KR" altLang="en-US" sz="1600" dirty="0"/>
              <a:t>기타 과거 </a:t>
            </a:r>
            <a:r>
              <a:rPr lang="ko-KR" altLang="en-US" sz="1600" dirty="0" err="1"/>
              <a:t>기왕력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흡연력</a:t>
            </a:r>
            <a:r>
              <a:rPr lang="en-US" altLang="ko-KR" sz="1600" dirty="0"/>
              <a:t> </a:t>
            </a:r>
            <a:r>
              <a:rPr lang="ko-KR" altLang="en-US" sz="1600" dirty="0"/>
              <a:t>등 수집 가능 </a:t>
            </a:r>
            <a:r>
              <a:rPr lang="en-US" altLang="ko-KR" sz="1600" dirty="0"/>
              <a:t>Clinical variable </a:t>
            </a:r>
            <a:r>
              <a:rPr lang="ko-KR" altLang="en-US" sz="1600" dirty="0"/>
              <a:t>추가</a:t>
            </a:r>
            <a:r>
              <a:rPr lang="en-US" altLang="ko-KR" sz="1600" dirty="0"/>
              <a:t>.</a:t>
            </a:r>
            <a:endParaRPr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B2D122-F80D-4741-536A-91FA0FC63E00}"/>
              </a:ext>
            </a:extLst>
          </p:cNvPr>
          <p:cNvSpPr txBox="1"/>
          <p:nvPr/>
        </p:nvSpPr>
        <p:spPr>
          <a:xfrm>
            <a:off x="276045" y="4103269"/>
            <a:ext cx="3001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E8C"/>
                </a:solidFill>
              </a:defRPr>
            </a:pPr>
            <a:r>
              <a:rPr lang="en-US" sz="2400" dirty="0"/>
              <a:t>Next Step</a:t>
            </a:r>
            <a:endParaRPr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96F27-1A0C-521A-9546-D980D8F676E4}"/>
              </a:ext>
            </a:extLst>
          </p:cNvPr>
          <p:cNvSpPr txBox="1"/>
          <p:nvPr/>
        </p:nvSpPr>
        <p:spPr>
          <a:xfrm>
            <a:off x="322053" y="5966663"/>
            <a:ext cx="613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rPr lang="en-US" altLang="ko-KR" sz="1800" dirty="0"/>
              <a:t>LC-MS/MS validation kickoff. </a:t>
            </a:r>
            <a:r>
              <a:rPr lang="en-US" altLang="ko-KR" dirty="0"/>
              <a:t>(w. </a:t>
            </a:r>
            <a:r>
              <a:rPr lang="ko-KR" altLang="en-US" dirty="0"/>
              <a:t>최형석 프로</a:t>
            </a:r>
            <a:r>
              <a:rPr lang="en-US" altLang="ko-KR" dirty="0"/>
              <a:t>)</a:t>
            </a:r>
            <a:endParaRPr lang="en-US" altLang="ko-KR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4F4877-781F-D9BC-E1CC-7B21639DD871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lang="en-US" dirty="0"/>
              <a:t>Academy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9299CB-791C-7483-79EF-36B9AE39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7" y="1651218"/>
            <a:ext cx="6340623" cy="4615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5C135F-1EDD-6DAC-33EA-335C5F2680FB}"/>
              </a:ext>
            </a:extLst>
          </p:cNvPr>
          <p:cNvSpPr txBox="1"/>
          <p:nvPr/>
        </p:nvSpPr>
        <p:spPr>
          <a:xfrm>
            <a:off x="307035" y="1017721"/>
            <a:ext cx="4868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AACR</a:t>
            </a:r>
            <a:r>
              <a:rPr lang="ko-KR" altLang="en-US" sz="2800" dirty="0"/>
              <a:t> 포스터 제출 완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E2934-5383-B20B-4A8A-1375B8E23847}"/>
              </a:ext>
            </a:extLst>
          </p:cNvPr>
          <p:cNvSpPr txBox="1"/>
          <p:nvPr/>
        </p:nvSpPr>
        <p:spPr>
          <a:xfrm>
            <a:off x="6612944" y="2228671"/>
            <a:ext cx="5360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Cancers </a:t>
            </a:r>
            <a:r>
              <a:rPr lang="ko-KR" altLang="en-US" dirty="0"/>
              <a:t>논문</a:t>
            </a:r>
            <a:r>
              <a:rPr lang="en-US" altLang="ko-KR" dirty="0"/>
              <a:t> Method </a:t>
            </a:r>
            <a:r>
              <a:rPr lang="ko-KR" altLang="en-US" dirty="0"/>
              <a:t>및 </a:t>
            </a:r>
            <a:r>
              <a:rPr lang="en-US" altLang="ko-KR" dirty="0"/>
              <a:t>Results Contents </a:t>
            </a:r>
            <a:r>
              <a:rPr lang="ko-KR" altLang="en-US" dirty="0"/>
              <a:t>완료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대사체</a:t>
            </a:r>
            <a:r>
              <a:rPr lang="ko-KR" altLang="en-US" dirty="0"/>
              <a:t> 프로파일링 </a:t>
            </a:r>
            <a:r>
              <a:rPr lang="en-US" altLang="ko-KR" dirty="0"/>
              <a:t>(GC-MS </a:t>
            </a:r>
            <a:r>
              <a:rPr lang="ko-KR" altLang="en-US" dirty="0"/>
              <a:t>데이터를 통해 실험 진행</a:t>
            </a:r>
            <a:r>
              <a:rPr lang="en-US" altLang="ko-KR" dirty="0"/>
              <a:t> </a:t>
            </a:r>
            <a:r>
              <a:rPr lang="ko-KR" altLang="en-US" dirty="0"/>
              <a:t>및 임상 논문 작성을 위한 </a:t>
            </a:r>
            <a:r>
              <a:rPr lang="en-US" altLang="ko-KR" dirty="0"/>
              <a:t>Evidence </a:t>
            </a:r>
            <a:r>
              <a:rPr lang="ko-KR" altLang="en-US" dirty="0"/>
              <a:t>확보</a:t>
            </a:r>
            <a:r>
              <a:rPr lang="en-US" altLang="ko-KR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3E7FD-BBC7-3430-7E86-91CA50279ACD}"/>
              </a:ext>
            </a:extLst>
          </p:cNvPr>
          <p:cNvSpPr txBox="1"/>
          <p:nvPr/>
        </p:nvSpPr>
        <p:spPr>
          <a:xfrm>
            <a:off x="6612945" y="1651218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E8C"/>
                </a:solidFill>
              </a:defRPr>
            </a:pPr>
            <a:r>
              <a:rPr lang="en-US" sz="2400" dirty="0"/>
              <a:t>Next Step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0098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lang="en-US" dirty="0"/>
              <a:t>Patent </a:t>
            </a:r>
            <a:r>
              <a:rPr dirty="0"/>
              <a:t>&amp; SW GMP — 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E8C"/>
                </a:solidFill>
              </a:defRPr>
            </a:pPr>
            <a:r>
              <a:rPr dirty="0"/>
              <a:t>SW GMP — Deployment Infrastructure</a:t>
            </a:r>
            <a:endParaRPr lang="en-US" dirty="0"/>
          </a:p>
          <a:p>
            <a:pPr algn="l">
              <a:defRPr sz="1400" b="1">
                <a:solidFill>
                  <a:srgbClr val="004E8C"/>
                </a:solidFill>
              </a:defRPr>
            </a:pPr>
            <a:r>
              <a:rPr lang="ko-KR" altLang="en-US" dirty="0"/>
              <a:t>사용 적합성 문서 작성 및 소프트웨어 개발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65759" y="1679377"/>
            <a:ext cx="4241637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08040"/>
                </a:solidFill>
              </a:defRPr>
            </a:pPr>
            <a:r>
              <a:rPr sz="1400" dirty="0"/>
              <a:t>✅ Production engine: sers_predict.py (49KB)</a:t>
            </a:r>
          </a:p>
          <a:p>
            <a:pPr>
              <a:spcAft>
                <a:spcPts val="300"/>
              </a:spcAft>
              <a:defRPr sz="1100">
                <a:solidFill>
                  <a:srgbClr val="008040"/>
                </a:solidFill>
              </a:defRPr>
            </a:pPr>
            <a:r>
              <a:rPr sz="1400" dirty="0"/>
              <a:t>✅ Clinical webapp: </a:t>
            </a:r>
            <a:r>
              <a:rPr sz="1400" dirty="0" err="1"/>
              <a:t>FastAPI</a:t>
            </a:r>
            <a:r>
              <a:rPr sz="1400" dirty="0"/>
              <a:t> + Starlette templates</a:t>
            </a:r>
          </a:p>
          <a:p>
            <a:pPr>
              <a:spcAft>
                <a:spcPts val="300"/>
              </a:spcAft>
              <a:defRPr sz="1100">
                <a:solidFill>
                  <a:srgbClr val="008040"/>
                </a:solidFill>
              </a:defRPr>
            </a:pPr>
            <a:r>
              <a:rPr sz="1400" dirty="0"/>
              <a:t>✅ Audit trail + i18n (KR/EN) + SQLite DB</a:t>
            </a:r>
          </a:p>
          <a:p>
            <a:pPr>
              <a:spcAft>
                <a:spcPts val="300"/>
              </a:spcAft>
              <a:defRPr sz="1100">
                <a:solidFill>
                  <a:srgbClr val="008040"/>
                </a:solidFill>
              </a:defRPr>
            </a:pPr>
            <a:r>
              <a:rPr sz="1400" dirty="0"/>
              <a:t>✅ Windows .exe builder (</a:t>
            </a:r>
            <a:r>
              <a:rPr sz="1400" dirty="0" err="1"/>
              <a:t>PyInstaller</a:t>
            </a:r>
            <a:r>
              <a:rPr sz="1400" dirty="0"/>
              <a:t>)</a:t>
            </a:r>
          </a:p>
          <a:p>
            <a:pPr>
              <a:spcAft>
                <a:spcPts val="300"/>
              </a:spcAft>
              <a:defRPr sz="1100">
                <a:solidFill>
                  <a:srgbClr val="008040"/>
                </a:solidFill>
              </a:defRPr>
            </a:pPr>
            <a:r>
              <a:rPr sz="1400" dirty="0"/>
              <a:t>✅ CI/CD: GitHub Actions (Py 3.10/3.11/3.12)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</a:defRPr>
            </a:pPr>
            <a:r>
              <a:rPr sz="1400" dirty="0"/>
              <a:t>🔜 V&amp;V documentation + external review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BD8CE1-3DA7-097C-D196-0A254EFA8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052" y="1195948"/>
            <a:ext cx="3409828" cy="16074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11B5A3D-A06E-C66E-DA86-5353985D2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053" y="2951460"/>
            <a:ext cx="3433195" cy="17562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04F8D02-41FC-E1C7-961A-1E00BF22A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606" y="1031666"/>
            <a:ext cx="3290535" cy="17716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9EDDE36-FA0B-E23F-DD75-A7002D731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605" y="3012066"/>
            <a:ext cx="3371823" cy="169133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F89E859-BF2E-665D-F9AF-F387512A9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3372" y="4805024"/>
            <a:ext cx="3571233" cy="191139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10BDBB8-A321-50E7-02BB-C98AFAE815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6859" y="4805023"/>
            <a:ext cx="3188282" cy="20087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C090C6A-E71E-C02D-2566-B4EF015705C5}"/>
              </a:ext>
            </a:extLst>
          </p:cNvPr>
          <p:cNvSpPr txBox="1"/>
          <p:nvPr/>
        </p:nvSpPr>
        <p:spPr>
          <a:xfrm>
            <a:off x="201859" y="3714835"/>
            <a:ext cx="15334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E8C"/>
                </a:solidFill>
              </a:defRPr>
            </a:pPr>
            <a:r>
              <a:rPr lang="en-US" sz="2400" dirty="0"/>
              <a:t>Next Step</a:t>
            </a:r>
            <a:endParaRPr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95A875-7135-28AC-92C4-E6BC38600D55}"/>
              </a:ext>
            </a:extLst>
          </p:cNvPr>
          <p:cNvSpPr txBox="1"/>
          <p:nvPr/>
        </p:nvSpPr>
        <p:spPr>
          <a:xfrm>
            <a:off x="201859" y="4280891"/>
            <a:ext cx="3433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r>
              <a:rPr lang="ko-KR" altLang="en-US" dirty="0"/>
              <a:t>사용적합성 평가 위한 사용설명서 및 </a:t>
            </a:r>
            <a:r>
              <a:rPr lang="en-US" altLang="ko-KR" dirty="0"/>
              <a:t>guide </a:t>
            </a:r>
            <a:r>
              <a:rPr lang="ko-KR" altLang="en-US" dirty="0"/>
              <a:t>제작</a:t>
            </a:r>
            <a:endParaRPr lang="en-US" altLang="ko-KR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4F7ECC-DE23-AF98-EC8B-D6ECD3FFDE88}"/>
              </a:ext>
            </a:extLst>
          </p:cNvPr>
          <p:cNvSpPr txBox="1"/>
          <p:nvPr/>
        </p:nvSpPr>
        <p:spPr>
          <a:xfrm>
            <a:off x="201859" y="4927222"/>
            <a:ext cx="35712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AI</a:t>
            </a:r>
            <a:r>
              <a:rPr lang="ko-KR" altLang="en-US" dirty="0"/>
              <a:t> 특허 파이프라인</a:t>
            </a:r>
            <a:r>
              <a:rPr lang="en-US" altLang="ko-KR" dirty="0"/>
              <a:t>, Clinical Report, </a:t>
            </a:r>
            <a:r>
              <a:rPr lang="ko-KR" altLang="en-US" dirty="0"/>
              <a:t>검출 </a:t>
            </a:r>
            <a:r>
              <a:rPr lang="en-US" altLang="ko-KR" dirty="0"/>
              <a:t>Index </a:t>
            </a:r>
            <a:r>
              <a:rPr lang="ko-KR" altLang="en-US" dirty="0"/>
              <a:t>산출 방식</a:t>
            </a:r>
            <a:r>
              <a:rPr lang="en-US" altLang="ko-KR" dirty="0"/>
              <a:t>, </a:t>
            </a:r>
            <a:r>
              <a:rPr lang="ko-KR" altLang="en-US" dirty="0"/>
              <a:t>모델 구조 </a:t>
            </a:r>
            <a:r>
              <a:rPr lang="en-US" altLang="ko-KR" dirty="0"/>
              <a:t>Draft</a:t>
            </a:r>
            <a:r>
              <a:rPr lang="ko-KR" altLang="en-US" dirty="0"/>
              <a:t>를 통해 </a:t>
            </a:r>
            <a:r>
              <a:rPr lang="en-US" altLang="ko-KR" dirty="0"/>
              <a:t>IP </a:t>
            </a:r>
            <a:r>
              <a:rPr lang="ko-KR" altLang="en-US" dirty="0"/>
              <a:t>진행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lang="en-US" sz="4400" dirty="0"/>
              <a:t>Solum </a:t>
            </a:r>
            <a:r>
              <a:rPr lang="en-US" sz="4400"/>
              <a:t>Healthcare  AX </a:t>
            </a:r>
            <a:r>
              <a:rPr lang="ko-KR" altLang="en-US" sz="4400" dirty="0"/>
              <a:t>예정</a:t>
            </a:r>
            <a:endParaRPr sz="44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68CA75A-5736-1718-5AF8-53BA4E9C9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087" y="1063853"/>
            <a:ext cx="9364693" cy="55836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D160BCD-BDF3-C591-A0DC-2EB6A2F94EE6}"/>
              </a:ext>
            </a:extLst>
          </p:cNvPr>
          <p:cNvSpPr txBox="1"/>
          <p:nvPr/>
        </p:nvSpPr>
        <p:spPr>
          <a:xfrm>
            <a:off x="506084" y="1063853"/>
            <a:ext cx="540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외부 </a:t>
            </a:r>
            <a:r>
              <a:rPr lang="en-US" altLang="ko-KR" b="1" dirty="0"/>
              <a:t>AI </a:t>
            </a:r>
            <a:r>
              <a:rPr lang="ko-KR" altLang="en-US" b="1" dirty="0"/>
              <a:t>활용 신청 진행 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4742336-914c-47dd-9668-37ab4b821de8}" enabled="1" method="Standard" siteId="{3489ac63-3ba9-41fb-8dbd-c0d8992b46b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566</Words>
  <Application>Microsoft Office PowerPoint</Application>
  <PresentationFormat>와이드스크린</PresentationFormat>
  <Paragraphs>113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Yoon Insu_윤인수_Health Care_HQ</cp:lastModifiedBy>
  <cp:revision>3</cp:revision>
  <dcterms:created xsi:type="dcterms:W3CDTF">2013-01-27T09:14:16Z</dcterms:created>
  <dcterms:modified xsi:type="dcterms:W3CDTF">2026-04-13T07:09:12Z</dcterms:modified>
  <cp:category/>
</cp:coreProperties>
</file>